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E64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5F5F5"/>
                </a:solidFill>
                <a:latin typeface="Aptos"/>
              </a:rPr>
              <a:t>Letter Fabriek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B4B9C3"/>
                </a:solidFill>
                <a:latin typeface="Aptos"/>
              </a:rPr>
              <a:t>ABB-robot schrijft namen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429000"/>
            <a:ext cx="2057400" cy="658368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5F5F5"/>
                </a:solidFill>
                <a:latin typeface="Aptos"/>
              </a:rPr>
              <a:t>naam typen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0208" y="35478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3429000"/>
            <a:ext cx="2057400" cy="658368"/>
          </a:xfrm>
          <a:prstGeom prst="roundRect">
            <a:avLst/>
          </a:prstGeom>
          <a:solidFill>
            <a:srgbClr val="E6492E"/>
          </a:solidFill>
          <a:ln>
            <a:solidFill>
              <a:srgbClr val="E64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5F5F5"/>
                </a:solidFill>
                <a:latin typeface="Aptos"/>
              </a:rPr>
              <a:t>robot schrijft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0568" y="35478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429000"/>
            <a:ext cx="2057400" cy="658368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5F5F5"/>
                </a:solidFill>
                <a:latin typeface="Aptos"/>
              </a:rPr>
              <a:t>bord wissen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B4B9C3"/>
                </a:solidFill>
                <a:latin typeface="Aptos"/>
              </a:rPr>
              <a:t>Korte presentatie · Lars Schrijvers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9C3"/>
                </a:solidFill>
                <a:latin typeface="Aptos"/>
              </a:rPr>
              <a:t>ABB Robot Naam Schrijven · Letter Fabriek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4B9C3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201400" cy="18288"/>
          </a:xfrm>
          <a:prstGeom prst="rect">
            <a:avLst/>
          </a:prstGeom>
          <a:solidFill>
            <a:srgbClr val="E64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5F5"/>
                </a:solidFill>
                <a:latin typeface="Aptos"/>
              </a:rPr>
              <a:t>De ideeën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4B9C3"/>
                </a:solidFill>
                <a:latin typeface="Aptos"/>
              </a:rPr>
              <a:t>Kort overzicht van de gekozen demo.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01952"/>
          <a:ext cx="1065276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5577840"/>
                <a:gridCol w="2651760"/>
              </a:tblGrid>
              <a:tr h="6620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5F5F5"/>
                          </a:solidFill>
                          <a:latin typeface="Aptos"/>
                        </a:rPr>
                        <a:t>Idee</a:t>
                      </a:r>
                    </a:p>
                  </a:txBody>
                  <a:tcPr>
                    <a:solidFill>
                      <a:srgbClr val="E649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5F5F5"/>
                          </a:solidFill>
                          <a:latin typeface="Aptos"/>
                        </a:rPr>
                        <a:t>Waarom niet / waarom wel?</a:t>
                      </a:r>
                    </a:p>
                  </a:txBody>
                  <a:tcPr>
                    <a:solidFill>
                      <a:srgbClr val="E649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5F5F5"/>
                          </a:solidFill>
                          <a:latin typeface="Aptos"/>
                        </a:rPr>
                        <a:t>Keuze</a:t>
                      </a:r>
                    </a:p>
                  </a:txBody>
                  <a:tcPr>
                    <a:solidFill>
                      <a:srgbClr val="E6492E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5F5F5"/>
                          </a:solidFill>
                          <a:latin typeface="Aptos"/>
                        </a:rPr>
                        <a:t>Tic-tac-toe</a:t>
                      </a:r>
                    </a:p>
                  </a:txBody>
                  <a:tcPr marL="109728" marR="109728" marT="73152" marB="73152">
                    <a:solidFill>
                      <a:srgbClr val="252A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5"/>
                          </a:solidFill>
                          <a:latin typeface="Aptos"/>
                        </a:rPr>
                        <a:t>Traag en minder duidelijk voor bezoekers.</a:t>
                      </a:r>
                    </a:p>
                  </a:txBody>
                  <a:tcPr marL="109728" marR="109728" marT="73152" marB="73152">
                    <a:solidFill>
                      <a:srgbClr val="25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5F5F5"/>
                          </a:solidFill>
                          <a:latin typeface="Aptos"/>
                        </a:rPr>
                        <a:t>Nee</a:t>
                      </a:r>
                    </a:p>
                  </a:txBody>
                  <a:tcPr marL="109728" marR="109728" marT="73152" marB="73152">
                    <a:solidFill>
                      <a:srgbClr val="252A37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5F5F5"/>
                          </a:solidFill>
                          <a:latin typeface="Aptos"/>
                        </a:rPr>
                        <a:t>Schaar-steen-papier</a:t>
                      </a:r>
                    </a:p>
                  </a:txBody>
                  <a:tcPr marL="109728" marR="109728" marT="73152" marB="73152">
                    <a:solidFill>
                      <a:srgbClr val="252A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5"/>
                          </a:solidFill>
                          <a:latin typeface="Aptos"/>
                        </a:rPr>
                        <a:t>Robotarm reageert te traag voor een snelle demo.</a:t>
                      </a:r>
                    </a:p>
                  </a:txBody>
                  <a:tcPr marL="109728" marR="109728" marT="73152" marB="73152">
                    <a:solidFill>
                      <a:srgbClr val="25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5F5F5"/>
                          </a:solidFill>
                          <a:latin typeface="Aptos"/>
                        </a:rPr>
                        <a:t>Nee</a:t>
                      </a:r>
                    </a:p>
                  </a:txBody>
                  <a:tcPr marL="109728" marR="109728" marT="73152" marB="73152">
                    <a:solidFill>
                      <a:srgbClr val="252A37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5F5F5"/>
                          </a:solidFill>
                          <a:latin typeface="Aptos"/>
                        </a:rPr>
                        <a:t>Snoepautomaat</a:t>
                      </a:r>
                    </a:p>
                  </a:txBody>
                  <a:tcPr marL="109728" marR="109728" marT="73152" marB="73152">
                    <a:solidFill>
                      <a:srgbClr val="252A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5"/>
                          </a:solidFill>
                          <a:latin typeface="Aptos"/>
                        </a:rPr>
                        <a:t>Toont minder robotica en precisie.</a:t>
                      </a:r>
                    </a:p>
                  </a:txBody>
                  <a:tcPr marL="109728" marR="109728" marT="73152" marB="73152">
                    <a:solidFill>
                      <a:srgbClr val="25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5F5F5"/>
                          </a:solidFill>
                          <a:latin typeface="Aptos"/>
                        </a:rPr>
                        <a:t>Nee</a:t>
                      </a:r>
                    </a:p>
                  </a:txBody>
                  <a:tcPr marL="109728" marR="109728" marT="73152" marB="73152">
                    <a:solidFill>
                      <a:srgbClr val="252A37"/>
                    </a:solidFill>
                  </a:tcPr>
                </a:tc>
              </a:tr>
              <a:tr h="66202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F5F5"/>
                          </a:solidFill>
                          <a:latin typeface="Aptos"/>
                        </a:rPr>
                        <a:t>Robot-schrijver</a:t>
                      </a:r>
                    </a:p>
                  </a:txBody>
                  <a:tcPr marL="109728" marR="109728" marT="73152" marB="73152">
                    <a:solidFill>
                      <a:srgbClr val="3F36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5"/>
                          </a:solidFill>
                          <a:latin typeface="Aptos"/>
                        </a:rPr>
                        <a:t>Persoonlijk, zichtbaar en technisch interessant.</a:t>
                      </a:r>
                    </a:p>
                  </a:txBody>
                  <a:tcPr marL="109728" marR="109728" marT="73152" marB="73152">
                    <a:solidFill>
                      <a:srgbClr val="3F36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F5F5"/>
                          </a:solidFill>
                          <a:latin typeface="Aptos"/>
                        </a:rPr>
                        <a:t>Ja</a:t>
                      </a:r>
                    </a:p>
                  </a:txBody>
                  <a:tcPr marL="109728" marR="109728" marT="73152" marB="73152">
                    <a:solidFill>
                      <a:srgbClr val="3F363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794760" y="5504688"/>
            <a:ext cx="4572000" cy="566928"/>
          </a:xfrm>
          <a:prstGeom prst="roundRect">
            <a:avLst/>
          </a:prstGeom>
          <a:solidFill>
            <a:srgbClr val="E6492E"/>
          </a:solidFill>
          <a:ln>
            <a:solidFill>
              <a:srgbClr val="E64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F5F5F5"/>
                </a:solidFill>
                <a:latin typeface="Aptos"/>
              </a:rPr>
              <a:t>Gekozen: robot-schrijver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9C3"/>
                </a:solidFill>
                <a:latin typeface="Aptos"/>
              </a:rPr>
              <a:t>ABB Robot Naam Schrijven · Letter Fabriek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4B9C3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201400" cy="18288"/>
          </a:xfrm>
          <a:prstGeom prst="rect">
            <a:avLst/>
          </a:prstGeom>
          <a:solidFill>
            <a:srgbClr val="E64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5F5"/>
                </a:solidFill>
                <a:latin typeface="Aptos"/>
              </a:rPr>
              <a:t>Hoe krijgt de robot de naam?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4B9C3"/>
                </a:solidFill>
                <a:latin typeface="Aptos"/>
              </a:rPr>
              <a:t>De computer legt een bestand klaar. De robot leest het zelf.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874519" cy="438912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96896"/>
            <a:ext cx="1874519" cy="786384"/>
          </a:xfrm>
          <a:prstGeom prst="roundRect">
            <a:avLst/>
          </a:prstGeom>
          <a:solidFill>
            <a:srgbClr val="1D212B"/>
          </a:solidFill>
          <a:ln>
            <a:solidFill>
              <a:srgbClr val="1D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naam typen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1" y="2633472"/>
            <a:ext cx="256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057400"/>
            <a:ext cx="1874519" cy="438912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2596896"/>
            <a:ext cx="1874519" cy="786384"/>
          </a:xfrm>
          <a:prstGeom prst="roundRect">
            <a:avLst/>
          </a:prstGeom>
          <a:solidFill>
            <a:srgbClr val="1D212B"/>
          </a:solidFill>
          <a:ln>
            <a:solidFill>
              <a:srgbClr val="1D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Python controleert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633472"/>
            <a:ext cx="256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2057400"/>
            <a:ext cx="1874519" cy="438912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2596896"/>
            <a:ext cx="1874519" cy="786384"/>
          </a:xfrm>
          <a:prstGeom prst="roundRect">
            <a:avLst/>
          </a:prstGeom>
          <a:solidFill>
            <a:srgbClr val="1D212B"/>
          </a:solidFill>
          <a:ln>
            <a:solidFill>
              <a:srgbClr val="1D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FTP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2633472"/>
            <a:ext cx="256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4616" y="2057400"/>
            <a:ext cx="1874519" cy="438912"/>
          </a:xfrm>
          <a:prstGeom prst="roundRect">
            <a:avLst/>
          </a:prstGeom>
          <a:solidFill>
            <a:srgbClr val="E6492E"/>
          </a:solidFill>
          <a:ln>
            <a:solidFill>
              <a:srgbClr val="E64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14616" y="2596896"/>
            <a:ext cx="1874519" cy="786384"/>
          </a:xfrm>
          <a:prstGeom prst="roundRect">
            <a:avLst/>
          </a:prstGeom>
          <a:solidFill>
            <a:srgbClr val="1D212B"/>
          </a:solidFill>
          <a:ln>
            <a:solidFill>
              <a:srgbClr val="1D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naam.doc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7" y="2633472"/>
            <a:ext cx="256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90888" y="2057400"/>
            <a:ext cx="1874519" cy="438912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90888" y="2596896"/>
            <a:ext cx="1874519" cy="786384"/>
          </a:xfrm>
          <a:prstGeom prst="roundRect">
            <a:avLst/>
          </a:prstGeom>
          <a:solidFill>
            <a:srgbClr val="1D212B"/>
          </a:solidFill>
          <a:ln>
            <a:solidFill>
              <a:srgbClr val="1D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robot leest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4160520"/>
            <a:ext cx="8138160" cy="685800"/>
          </a:xfrm>
          <a:prstGeom prst="roundRect">
            <a:avLst/>
          </a:prstGeom>
          <a:solidFill>
            <a:srgbClr val="222730"/>
          </a:solidFill>
          <a:ln>
            <a:solidFill>
              <a:srgbClr val="22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F5F5F5"/>
                </a:solidFill>
                <a:latin typeface="Aptos"/>
              </a:rPr>
              <a:t>Belangrijk: na het lezen verwijdert de robot naam.doc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93776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B4B9C3"/>
                </a:solidFill>
                <a:latin typeface="Aptos"/>
              </a:rPr>
              <a:t>Zo wordt dezelfde naam niet opnieuw uitgevoerd.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9C3"/>
                </a:solidFill>
                <a:latin typeface="Aptos"/>
              </a:rPr>
              <a:t>ABB Robot Naam Schrijven · Letter Fabriek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4B9C3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201400" cy="18288"/>
          </a:xfrm>
          <a:prstGeom prst="rect">
            <a:avLst/>
          </a:prstGeom>
          <a:solidFill>
            <a:srgbClr val="E64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5F5"/>
                </a:solidFill>
                <a:latin typeface="Aptos"/>
              </a:rPr>
              <a:t>Hoe tekent de robot?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4B9C3"/>
                </a:solidFill>
                <a:latin typeface="Aptos"/>
              </a:rPr>
              <a:t>De robot tekent geen echte tekst, maar losse bewegingen.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52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E6492E"/>
                </a:solidFill>
                <a:latin typeface="Aptos"/>
              </a:rPr>
              <a:t>L A R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246120"/>
            <a:ext cx="2834640" cy="713232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5F5F5"/>
                </a:solidFill>
                <a:latin typeface="Aptos"/>
              </a:rPr>
              <a:t>letter per letter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4164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B4B9C3"/>
                </a:solidFill>
                <a:latin typeface="Aptos"/>
              </a:rPr>
              <a:t>karakter wordt opgezocht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3246120"/>
            <a:ext cx="2834640" cy="713232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5F5F5"/>
                </a:solidFill>
                <a:latin typeface="Aptos"/>
              </a:rPr>
              <a:t>PenDown / PenUp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04164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B4B9C3"/>
                </a:solidFill>
                <a:latin typeface="Aptos"/>
              </a:rPr>
              <a:t>stift neer en weer omhoog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246120"/>
            <a:ext cx="2834640" cy="713232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5F5F5"/>
                </a:solidFill>
                <a:latin typeface="Aptos"/>
              </a:rPr>
              <a:t>lijnen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04164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B4B9C3"/>
                </a:solidFill>
                <a:latin typeface="Aptos"/>
              </a:rPr>
              <a:t>omhoog · omlaag · schuin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5166360"/>
            <a:ext cx="8321040" cy="621792"/>
          </a:xfrm>
          <a:prstGeom prst="roundRect">
            <a:avLst/>
          </a:prstGeom>
          <a:solidFill>
            <a:srgbClr val="E6492E"/>
          </a:solidFill>
          <a:ln>
            <a:solidFill>
              <a:srgbClr val="E64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F5F5F5"/>
                </a:solidFill>
                <a:latin typeface="Aptos"/>
              </a:rPr>
              <a:t>Daarna: 10 seconden tonen → automatisch wissen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9C3"/>
                </a:solidFill>
                <a:latin typeface="Aptos"/>
              </a:rPr>
              <a:t>ABB Robot Naam Schrijven · Letter Fabriek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4B9C3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201400" cy="18288"/>
          </a:xfrm>
          <a:prstGeom prst="rect">
            <a:avLst/>
          </a:prstGeom>
          <a:solidFill>
            <a:srgbClr val="E64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5F5"/>
                </a:solidFill>
                <a:latin typeface="Aptos"/>
              </a:rPr>
              <a:t>Plus- en minpunten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4B9C3"/>
                </a:solidFill>
                <a:latin typeface="Aptos"/>
              </a:rPr>
              <a:t>Wat ging goed en wat ging moeilijk in het project?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4983480" cy="530352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5F5F5"/>
                </a:solidFill>
                <a:latin typeface="Aptos"/>
              </a:rPr>
              <a:t>Goed gegaan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4983480" cy="530352"/>
          </a:xfrm>
          <a:prstGeom prst="round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5F5F5"/>
                </a:solidFill>
                <a:latin typeface="Aptos"/>
              </a:rPr>
              <a:t>Moeilijk gegaan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651760"/>
            <a:ext cx="4526280" cy="45720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F5F5F5"/>
                </a:solidFill>
                <a:latin typeface="Aptos"/>
              </a:rPr>
              <a:t>FTP-oplossing werkte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310128"/>
            <a:ext cx="4526280" cy="45720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F5F5F5"/>
                </a:solidFill>
                <a:latin typeface="Aptos"/>
              </a:rPr>
              <a:t>Interface was simpel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968496"/>
            <a:ext cx="4526280" cy="45720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F5F5F5"/>
                </a:solidFill>
                <a:latin typeface="Aptos"/>
              </a:rPr>
              <a:t>Schrijven + wissen lukte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626864"/>
            <a:ext cx="4526280" cy="45720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F5F5F5"/>
                </a:solidFill>
                <a:latin typeface="Aptos"/>
              </a:rPr>
              <a:t>Demo werd zelfstandig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651760"/>
            <a:ext cx="4526280" cy="45720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F5F5F5"/>
                </a:solidFill>
                <a:latin typeface="Aptos"/>
              </a:rPr>
              <a:t>SocketCreate werkte niet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310128"/>
            <a:ext cx="4526280" cy="45720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F5F5F5"/>
                </a:solidFill>
                <a:latin typeface="Aptos"/>
              </a:rPr>
              <a:t>Workobject gaf fouten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968496"/>
            <a:ext cx="4526280" cy="45720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F5F5F5"/>
                </a:solidFill>
                <a:latin typeface="Aptos"/>
              </a:rPr>
              <a:t>Spons-offset was lastig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626864"/>
            <a:ext cx="4526280" cy="45720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F5F5F5"/>
                </a:solidFill>
                <a:latin typeface="Aptos"/>
              </a:rPr>
              <a:t>Startpositie moest precies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9C3"/>
                </a:solidFill>
                <a:latin typeface="Aptos"/>
              </a:rPr>
              <a:t>ABB Robot Naam Schrijven · Letter Fabriek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4B9C3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201400" cy="18288"/>
          </a:xfrm>
          <a:prstGeom prst="rect">
            <a:avLst/>
          </a:prstGeom>
          <a:solidFill>
            <a:srgbClr val="E64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5F5"/>
                </a:solidFill>
                <a:latin typeface="Aptos"/>
              </a:rPr>
              <a:t>Eindresultaat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4B9C3"/>
                </a:solidFill>
                <a:latin typeface="Aptos"/>
              </a:rPr>
              <a:t>Alle stappen komen gewoon na elkaar.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1828800" cy="77724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5F5F5"/>
                </a:solidFill>
                <a:latin typeface="Aptos"/>
              </a:rPr>
              <a:t>naam typen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944368"/>
            <a:ext cx="256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788920"/>
            <a:ext cx="1828800" cy="777240"/>
          </a:xfrm>
          <a:prstGeom prst="roundRect">
            <a:avLst/>
          </a:prstGeom>
          <a:solidFill>
            <a:srgbClr val="E6492E"/>
          </a:solidFill>
          <a:ln>
            <a:solidFill>
              <a:srgbClr val="E64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5F5F5"/>
                </a:solidFill>
                <a:latin typeface="Aptos"/>
              </a:rPr>
              <a:t>robot schrijft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944368"/>
            <a:ext cx="256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788920"/>
            <a:ext cx="1828800" cy="77724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5F5F5"/>
                </a:solidFill>
                <a:latin typeface="Aptos"/>
              </a:rPr>
              <a:t>10 sec tonen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44368"/>
            <a:ext cx="256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788920"/>
            <a:ext cx="1828800" cy="77724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5F5F5"/>
                </a:solidFill>
                <a:latin typeface="Aptos"/>
              </a:rPr>
              <a:t>automatisch wissen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44368"/>
            <a:ext cx="256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6492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788920"/>
            <a:ext cx="1828800" cy="777240"/>
          </a:xfrm>
          <a:prstGeom prst="roundRect">
            <a:avLst/>
          </a:prstGeom>
          <a:solidFill>
            <a:srgbClr val="252A37"/>
          </a:solidFill>
          <a:ln>
            <a:solidFill>
              <a:srgbClr val="25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5F5F5"/>
                </a:solidFill>
                <a:latin typeface="Aptos"/>
              </a:rPr>
              <a:t>klaar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4663440"/>
            <a:ext cx="7726679" cy="658368"/>
          </a:xfrm>
          <a:prstGeom prst="roundRect">
            <a:avLst/>
          </a:prstGeom>
          <a:solidFill>
            <a:srgbClr val="1D212B"/>
          </a:solidFill>
          <a:ln>
            <a:solidFill>
              <a:srgbClr val="1D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F5F5F5"/>
                </a:solidFill>
                <a:latin typeface="Aptos"/>
              </a:rPr>
              <a:t>Daarna kan de volgende bezoeker opnieuw starten.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E64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5F5F5"/>
                </a:solidFill>
                <a:latin typeface="Aptos"/>
              </a:rPr>
              <a:t>Einde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B4B9C3"/>
                </a:solidFill>
                <a:latin typeface="Aptos"/>
              </a:rPr>
              <a:t>Vragen?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886200"/>
            <a:ext cx="6720840" cy="731520"/>
          </a:xfrm>
          <a:prstGeom prst="roundRect">
            <a:avLst/>
          </a:prstGeom>
          <a:solidFill>
            <a:srgbClr val="E6492E"/>
          </a:solidFill>
          <a:ln>
            <a:solidFill>
              <a:srgbClr val="E64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naam → robot → geschreven resultaat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B4B9C3"/>
                </a:solidFill>
                <a:latin typeface="Aptos"/>
              </a:rPr>
              <a:t>Letter Fabriek · ABB Robot Naam Schrijven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